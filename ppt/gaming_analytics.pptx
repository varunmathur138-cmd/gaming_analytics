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USA</c:v>
                  </c:pt>
                  <c:pt idx="1">
                    <c:v>UK</c:v>
                  </c:pt>
                  <c:pt idx="2">
                    <c:v>Germany</c:v>
                  </c:pt>
                  <c:pt idx="3">
                    <c:v>Canada</c:v>
                  </c:pt>
                  <c:pt idx="4">
                    <c:v>France</c:v>
                  </c:pt>
                  <c:pt idx="5">
                    <c:v>Japan</c:v>
                  </c:pt>
                  <c:pt idx="6">
                    <c:v>Australia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620000</c:v>
                </c:pt>
                <c:pt idx="1">
                  <c:v>480000</c:v>
                </c:pt>
                <c:pt idx="2">
                  <c:v>350000</c:v>
                </c:pt>
                <c:pt idx="3">
                  <c:v>290000</c:v>
                </c:pt>
                <c:pt idx="4">
                  <c:v>240000</c:v>
                </c:pt>
                <c:pt idx="5">
                  <c:v>210000</c:v>
                </c:pt>
                <c:pt idx="6">
                  <c:v>180000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Loyal Users</c:v>
                </c:pt>
                <c:pt idx="1">
                  <c:v>Churned Users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180000</c:v>
                </c:pt>
                <c:pt idx="1">
                  <c:v>195000</c:v>
                </c:pt>
                <c:pt idx="2">
                  <c:v>210000</c:v>
                </c:pt>
                <c:pt idx="3">
                  <c:v>225000</c:v>
                </c:pt>
                <c:pt idx="4">
                  <c:v>240000</c:v>
                </c:pt>
                <c:pt idx="5">
                  <c:v>260000</c:v>
                </c:pt>
                <c:pt idx="6">
                  <c:v>248000</c:v>
                </c:pt>
                <c:pt idx="7">
                  <c:v>272000</c:v>
                </c:pt>
                <c:pt idx="8">
                  <c:v>290000</c:v>
                </c:pt>
                <c:pt idx="9">
                  <c:v>310000</c:v>
                </c:pt>
                <c:pt idx="10">
                  <c:v>295000</c:v>
                </c:pt>
                <c:pt idx="11">
                  <c:v>330000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Mobile</c:v>
                  </c:pt>
                  <c:pt idx="1">
                    <c:v>PC</c:v>
                  </c:pt>
                  <c:pt idx="2">
                    <c:v>Console</c:v>
                  </c:pt>
                  <c:pt idx="3">
                    <c:v>Tablet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1050000</c:v>
                </c:pt>
                <c:pt idx="1">
                  <c:v>840000</c:v>
                </c:pt>
                <c:pt idx="2">
                  <c:v>630000</c:v>
                </c:pt>
                <c:pt idx="3">
                  <c:v>280000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Non-Paying</c:v>
                </c:pt>
                <c:pt idx="1">
                  <c:v>Paying Users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Value (56%)</c:v>
                </c:pt>
                <c:pt idx="1">
                  <c:v>Mid Value (30%)</c:v>
                </c:pt>
                <c:pt idx="2">
                  <c:v>High Value (14%)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</c:v>
                </c:pt>
                <c:pt idx="1">
                  <c:v>30</c:v>
                </c:pt>
                <c:pt idx="2">
                  <c:v>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Players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</c:v>
                </c:pt>
                <c:pt idx="1">
                  <c:v>4500</c:v>
                </c:pt>
                <c:pt idx="2">
                  <c:v>4800</c:v>
                </c:pt>
                <c:pt idx="3">
                  <c:v>3900</c:v>
                </c:pt>
                <c:pt idx="4">
                  <c:v>3600</c:v>
                </c:pt>
                <c:pt idx="5">
                  <c:v>3800</c:v>
                </c:pt>
                <c:pt idx="6">
                  <c:v>4100</c:v>
                </c:pt>
                <c:pt idx="7">
                  <c:v>4400</c:v>
                </c:pt>
                <c:pt idx="8">
                  <c:v>4700</c:v>
                </c:pt>
                <c:pt idx="9">
                  <c:v>4900</c:v>
                </c:pt>
                <c:pt idx="10">
                  <c:v>5100</c:v>
                </c:pt>
                <c:pt idx="11">
                  <c:v>5400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480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350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290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8B5CF6"/>
            </a:solidFill>
            <a:ln w="254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Sheet1!$F$2:$F$8</c:f>
              <c:numCache>
                <c:formatCode>General</c:formatCode>
                <c:ptCount val="7"/>
                <c:pt idx="0">
                  <c:v>240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EC4899"/>
            </a:solidFill>
            <a:ln w="25400" cap="flat">
              <a:solidFill>
                <a:srgbClr val="EC48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Sheet1!$G$2:$G$8</c:f>
              <c:numCache>
                <c:formatCode>General</c:formatCode>
                <c:ptCount val="7"/>
                <c:pt idx="0">
                  <c:v>210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Australia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67</c:v>
                </c:pt>
                <c:pt idx="4">
                  <c:v>51</c:v>
                </c:pt>
                <c:pt idx="5">
                  <c:v>44</c:v>
                </c:pt>
                <c:pt idx="6">
                  <c:v>39</c:v>
                </c:pt>
              </c:numCache>
            </c:numRef>
          </c:xVal>
          <c:yVal>
            <c:numRef>
              <c:f>Sheet1!$H$2:$H$8</c:f>
              <c:numCache>
                <c:formatCode>General</c:formatCode>
                <c:ptCount val="7"/>
                <c:pt idx="0">
                  <c:v>180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D3148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457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59436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594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Analytics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2606040"/>
            <a:ext cx="3657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Revenue • Retention • Engagement • Device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474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3474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Gaming Dataset Analysis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11680" cy="1234440"/>
          </a:xfrm>
          <a:prstGeom prst="roundRect">
            <a:avLst>
              <a:gd name="adj" fmla="val 1037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046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8046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gross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34440"/>
          </a:xfrm>
          <a:prstGeom prst="roundRect">
            <a:avLst>
              <a:gd name="adj" fmla="val 1037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046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8046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23160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2011680" cy="1234440"/>
          </a:xfrm>
          <a:prstGeom prst="roundRect">
            <a:avLst>
              <a:gd name="adj" fmla="val 1037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8046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8046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players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777240"/>
            <a:ext cx="2011680" cy="1234440"/>
          </a:xfrm>
          <a:prstGeom prst="roundRect">
            <a:avLst>
              <a:gd name="adj" fmla="val 1037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8046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8046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Rev/User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paying user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94560"/>
            <a:ext cx="5120640" cy="2651760"/>
          </a:xfrm>
          <a:prstGeom prst="roundRect">
            <a:avLst>
              <a:gd name="adj" fmla="val 4828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Top Revenue Generating Countries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606040"/>
          <a:ext cx="49377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5577840" y="2194560"/>
            <a:ext cx="3337560" cy="2651760"/>
          </a:xfrm>
          <a:prstGeom prst="roundRect">
            <a:avLst>
              <a:gd name="adj" fmla="val 4828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7150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User Retention Status</a:t>
            </a:r>
            <a:endParaRPr lang="en-US" sz="12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5623560" y="2606040"/>
          <a:ext cx="3246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&amp; Device Contribution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2011680"/>
          </a:xfrm>
          <a:prstGeom prst="roundRect">
            <a:avLst>
              <a:gd name="adj" fmla="val 6364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Monthly Revenue Trend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15568"/>
          <a:ext cx="85039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944368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3017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Revenue by Device Type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274320" y="3291840"/>
          <a:ext cx="49377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577840" y="2944368"/>
            <a:ext cx="3337560" cy="2011680"/>
          </a:xfrm>
          <a:prstGeom prst="roundRect">
            <a:avLst>
              <a:gd name="adj" fmla="val 6364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715000" y="3017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Revenue Insights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0" y="3429000"/>
            <a:ext cx="256032" cy="256032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📱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89320" y="3401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leads revenue at ~37% share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0" y="3813048"/>
            <a:ext cx="256032" cy="256032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📈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89320" y="3785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+83% from Jan to Dec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669280" y="4197096"/>
            <a:ext cx="256032" cy="256032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🖥️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89320" y="4169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is 2nd highest revenue source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0" y="4581144"/>
            <a:ext cx="256032" cy="256032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0" y="457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🎮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89320" y="45537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contributes ~22% of total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&amp; PLAYER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vs Non-Paying • Player Segments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2194560"/>
          </a:xfrm>
          <a:prstGeom prst="roundRect">
            <a:avLst>
              <a:gd name="adj" fmla="val 58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Paying vs Non-Paying Users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97280"/>
          <a:ext cx="4023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777240"/>
            <a:ext cx="4251960" cy="2194560"/>
          </a:xfrm>
          <a:prstGeom prst="roundRect">
            <a:avLst>
              <a:gd name="adj" fmla="val 58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841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Player Distribution by Value Segment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09160" y="1097280"/>
          <a:ext cx="41148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28600" y="3127248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2860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22860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23160" y="3127248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42316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42316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Players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3127248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1772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61772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Segment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12280" y="3127248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81228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81228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Players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28600" y="4096512"/>
            <a:ext cx="8686800" cy="822960"/>
          </a:xfrm>
          <a:prstGeom prst="roundRect">
            <a:avLst>
              <a:gd name="adj" fmla="val 13333"/>
            </a:avLst>
          </a:prstGeom>
          <a:solidFill>
            <a:srgbClr val="1A0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Growth Opportunity: 56% of players fall in the Low Value segment — targeted in-game promotions and incentives can convert them to paying users, potentially increasing revenue by 2-3x.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RETENTION &amp; ENGAGEMENT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• Activity Trends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2011680"/>
          </a:xfrm>
          <a:prstGeom prst="roundRect">
            <a:avLst>
              <a:gd name="adj" fmla="val 6364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Player Activity Trend (Drop &amp; Recovery)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15568"/>
          <a:ext cx="85039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944368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Users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players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23160" y="2944368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23160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2316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Users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23160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players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17720" y="2944368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17720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Apr-May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1772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Period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17720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low point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12280" y="2944368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12280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1228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12280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low → Dec high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" y="4005072"/>
            <a:ext cx="8686800" cy="960120"/>
          </a:xfrm>
          <a:prstGeom prst="roundRect">
            <a:avLst>
              <a:gd name="adj" fmla="val 11429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6576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Retention Recommendations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435254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re-engagement campaigns during Apr–May drop period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loyalty rewards for players approaching 90-day milestone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0" y="43525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offers for Low Value users to drive first purchase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Dec peak period for highest-impact promotions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PLAYER SPENDING vs ENGAGEMENT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5943600" cy="4114800"/>
          </a:xfrm>
          <a:prstGeom prst="roundRect">
            <a:avLst>
              <a:gd name="adj" fmla="val 3111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Purchase Amount vs Game Progression by Country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57607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82512" y="777240"/>
            <a:ext cx="2532888" cy="4114800"/>
          </a:xfrm>
          <a:prstGeom prst="roundRect">
            <a:avLst>
              <a:gd name="adj" fmla="val 5054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841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Top Countries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73952" y="1261872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D0F1A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9672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19672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$620K  •  Avg Lvl 42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73952" y="2176272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D0F1A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9672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19672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$480K  •  Avg Lvl 58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73952" y="3090672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D0F1A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19672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19672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  •  Avg Lvl 35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73952" y="4005072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D0F1A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19672" y="4041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 Canada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19672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$290K  •  Avg Lvl 67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829"/>
          </a:solidFill>
          <a:ln w="12700">
            <a:solidFill>
              <a:srgbClr val="16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0" cy="64008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896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Low-Value Segment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24358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players are low-value. Targeted micro-transaction bundles can convert 10–15% into paying users.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640080" cy="64008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896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Mobile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24358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drives 37% of revenue. Prioritize mobile-first game features, push notifications, and exclusive deals.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0" cy="64008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359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Top Markets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0662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&amp; UK lead in revenue. Localized campaigns in Germany and Canada can unlock $200K+ incremental.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6771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640080" cy="64008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359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70662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users churn. Implement win-back emails, daily login bonuses, and streak rewards.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3075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40480"/>
            <a:ext cx="640080" cy="64008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822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Game Progression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16966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game level correlates with spending. Add mid-game challenges and rewards to accelerate progression.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30752"/>
            <a:ext cx="4206240" cy="1325880"/>
          </a:xfrm>
          <a:prstGeom prst="roundRect">
            <a:avLst>
              <a:gd name="adj" fmla="val 9655"/>
            </a:avLst>
          </a:prstGeom>
          <a:solidFill>
            <a:srgbClr val="1E2035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840480"/>
            <a:ext cx="640080" cy="64008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77840" y="3822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Seasonal Drops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16966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 shows activity drop. Schedule major content releases or events during this period proactively.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Analytics Dashboard  •  Prepared from Power BI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Gaming Analytics Dashboard</dc:title>
  <dc:subject>PptxGenJS Presentation</dc:subject>
  <dc:creator>PptxGenJS</dc:creator>
  <cp:lastModifiedBy>PptxGenJS</cp:lastModifiedBy>
  <cp:revision>1</cp:revision>
  <dcterms:created xsi:type="dcterms:W3CDTF">2026-06-23T08:19:19Z</dcterms:created>
  <dcterms:modified xsi:type="dcterms:W3CDTF">2026-06-23T08:19:19Z</dcterms:modified>
</cp:coreProperties>
</file>